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9" r:id="rId5"/>
    <p:sldId id="260" r:id="rId6"/>
    <p:sldId id="258" r:id="rId7"/>
  </p:sldIdLst>
  <p:sldSz cx="21336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67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7575"/>
    <a:srgbClr val="B4B7AF"/>
    <a:srgbClr val="96927F"/>
    <a:srgbClr val="7A7C79"/>
    <a:srgbClr val="908E79"/>
    <a:srgbClr val="00548B"/>
    <a:srgbClr val="C1C3BD"/>
    <a:srgbClr val="807E69"/>
    <a:srgbClr val="949384"/>
    <a:srgbClr val="838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3" autoAdjust="0"/>
    <p:restoredTop sz="94660"/>
  </p:normalViewPr>
  <p:slideViewPr>
    <p:cSldViewPr snapToGrid="0" showGuides="1">
      <p:cViewPr varScale="1">
        <p:scale>
          <a:sx n="55" d="100"/>
          <a:sy n="55" d="100"/>
        </p:scale>
        <p:origin x="120" y="726"/>
      </p:cViewPr>
      <p:guideLst>
        <p:guide orient="horz" pos="2136"/>
        <p:guide pos="67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1122363"/>
            <a:ext cx="16002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3602038"/>
            <a:ext cx="16002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1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5738" y="1709739"/>
            <a:ext cx="184023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5738" y="4589464"/>
            <a:ext cx="184023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4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6850" y="1825625"/>
            <a:ext cx="9067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01350" y="1825625"/>
            <a:ext cx="9067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7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629" y="365126"/>
            <a:ext cx="184023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9630" y="1681163"/>
            <a:ext cx="90261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9630" y="2505075"/>
            <a:ext cx="902612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01350" y="1681163"/>
            <a:ext cx="907057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01350" y="2505075"/>
            <a:ext cx="907057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8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85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3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630" y="457200"/>
            <a:ext cx="688141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70579" y="987426"/>
            <a:ext cx="108013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9630" y="2057400"/>
            <a:ext cx="688141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586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630" y="457200"/>
            <a:ext cx="688141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70579" y="987426"/>
            <a:ext cx="108013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9630" y="2057400"/>
            <a:ext cx="688141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2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6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68575" y="365125"/>
            <a:ext cx="46005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6850" y="365125"/>
            <a:ext cx="135350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3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6850" y="365126"/>
            <a:ext cx="18402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6850" y="1825625"/>
            <a:ext cx="18402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6850" y="6356351"/>
            <a:ext cx="480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0C576-2F68-4074-A808-1130E3A002D7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67550" y="6356351"/>
            <a:ext cx="7200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068550" y="6356351"/>
            <a:ext cx="480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0716D-A12E-4A38-A0B3-0CD302A3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1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hyperlink" Target="http://c-dash5.azurewebsites.net/omeka-s/admin/site/s/c-dash/show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c-dash5.azurewebsites.net/omeka-s/admin/site/s/c-dash/show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c-dash5.azurewebsites.net/omeka-s/admin/site/s/c-dash/show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AC0EB4C-3A84-4925-838D-5235989495F9}"/>
              </a:ext>
            </a:extLst>
          </p:cNvPr>
          <p:cNvGrpSpPr/>
          <p:nvPr/>
        </p:nvGrpSpPr>
        <p:grpSpPr>
          <a:xfrm>
            <a:off x="5369440" y="1727159"/>
            <a:ext cx="10597120" cy="961670"/>
            <a:chOff x="684439" y="3152900"/>
            <a:chExt cx="12292506" cy="1689687"/>
          </a:xfrm>
        </p:grpSpPr>
        <p:pic>
          <p:nvPicPr>
            <p:cNvPr id="14" name="Picture 2" descr="Image result for file cabinets">
              <a:extLst>
                <a:ext uri="{FF2B5EF4-FFF2-40B4-BE49-F238E27FC236}">
                  <a16:creationId xmlns:a16="http://schemas.microsoft.com/office/drawing/2014/main" id="{30F28095-E51F-40E4-B3B5-418E4EF212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Image result for file cabinets">
              <a:extLst>
                <a:ext uri="{FF2B5EF4-FFF2-40B4-BE49-F238E27FC236}">
                  <a16:creationId xmlns:a16="http://schemas.microsoft.com/office/drawing/2014/main" id="{58BB5453-9019-4721-83F9-7973F2A6C4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Image result for file cabinets">
              <a:extLst>
                <a:ext uri="{FF2B5EF4-FFF2-40B4-BE49-F238E27FC236}">
                  <a16:creationId xmlns:a16="http://schemas.microsoft.com/office/drawing/2014/main" id="{824F855F-83F3-44B7-82B4-B042FA7420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48000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613072" y="315290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Image result for file cabinets">
              <a:extLst>
                <a:ext uri="{FF2B5EF4-FFF2-40B4-BE49-F238E27FC236}">
                  <a16:creationId xmlns:a16="http://schemas.microsoft.com/office/drawing/2014/main" id="{0BF76182-A612-49B1-B702-4E8F120E8C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3933" y="3152900"/>
              <a:ext cx="2857626" cy="1676400"/>
            </a:xfrm>
            <a:prstGeom prst="rect">
              <a:avLst/>
            </a:prstGeom>
            <a:noFill/>
            <a:effectLst>
              <a:glow rad="127000"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Image result for file cabinets">
              <a:extLst>
                <a:ext uri="{FF2B5EF4-FFF2-40B4-BE49-F238E27FC236}">
                  <a16:creationId xmlns:a16="http://schemas.microsoft.com/office/drawing/2014/main" id="{5D0D5F81-A88E-4A68-9B8F-0C8EDE1909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3589"/>
                      </a14:imgEffect>
                      <a14:imgEffect>
                        <a14:saturation sat="50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9319" y="3166187"/>
              <a:ext cx="2857626" cy="1676400"/>
            </a:xfrm>
            <a:prstGeom prst="rect">
              <a:avLst/>
            </a:prstGeom>
            <a:noFill/>
            <a:effectLst>
              <a:glow rad="127000"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C6A89A7-AC52-40A8-AADA-A2A6E2A16BE0}"/>
              </a:ext>
            </a:extLst>
          </p:cNvPr>
          <p:cNvGrpSpPr/>
          <p:nvPr/>
        </p:nvGrpSpPr>
        <p:grpSpPr>
          <a:xfrm>
            <a:off x="5369440" y="4883407"/>
            <a:ext cx="10597120" cy="1676400"/>
            <a:chOff x="684439" y="3152900"/>
            <a:chExt cx="10597120" cy="1676400"/>
          </a:xfrm>
        </p:grpSpPr>
        <p:pic>
          <p:nvPicPr>
            <p:cNvPr id="5" name="Picture 2" descr="Image result for file cabinets">
              <a:extLst>
                <a:ext uri="{FF2B5EF4-FFF2-40B4-BE49-F238E27FC236}">
                  <a16:creationId xmlns:a16="http://schemas.microsoft.com/office/drawing/2014/main" id="{0AE52A5A-055C-4639-A232-83CC6E271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Image result for file cabinets">
              <a:extLst>
                <a:ext uri="{FF2B5EF4-FFF2-40B4-BE49-F238E27FC236}">
                  <a16:creationId xmlns:a16="http://schemas.microsoft.com/office/drawing/2014/main" id="{76C93F27-CA26-46BB-B61F-E4CB04C3CB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Image result for file cabinets">
              <a:extLst>
                <a:ext uri="{FF2B5EF4-FFF2-40B4-BE49-F238E27FC236}">
                  <a16:creationId xmlns:a16="http://schemas.microsoft.com/office/drawing/2014/main" id="{6B229BC2-0FE9-4929-A6DF-9AFCDA208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613072" y="315290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Image result for file cabinets">
              <a:extLst>
                <a:ext uri="{FF2B5EF4-FFF2-40B4-BE49-F238E27FC236}">
                  <a16:creationId xmlns:a16="http://schemas.microsoft.com/office/drawing/2014/main" id="{997B3C91-2715-482A-884E-27F7E0A39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3933" y="3152900"/>
              <a:ext cx="285762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4817110-3873-4634-A543-2F7B0616C9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218" y="1671414"/>
            <a:ext cx="1246872" cy="10910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F3E960-E208-480B-89E6-52B31CBB81E7}"/>
              </a:ext>
            </a:extLst>
          </p:cNvPr>
          <p:cNvSpPr/>
          <p:nvPr/>
        </p:nvSpPr>
        <p:spPr>
          <a:xfrm>
            <a:off x="6731515" y="368308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dirty="0">
                <a:solidFill>
                  <a:srgbClr val="BDCDE3"/>
                </a:solidFill>
                <a:latin typeface="Lato" panose="020F0502020204030203" pitchFamily="34" charset="0"/>
                <a:hlinkClick r:id="rId7"/>
              </a:rPr>
            </a:br>
            <a:r>
              <a:rPr lang="en-US" u="sng" dirty="0">
                <a:solidFill>
                  <a:srgbClr val="BDCDE3"/>
                </a:solidFill>
                <a:latin typeface="Lato" panose="020F0502020204030203" pitchFamily="34" charset="0"/>
                <a:hlinkClick r:id="rId7"/>
              </a:rPr>
              <a:t>C-DASH </a:t>
            </a:r>
            <a:br>
              <a:rPr lang="en-US" u="sng" dirty="0">
                <a:solidFill>
                  <a:srgbClr val="BDCDE3"/>
                </a:solidFill>
                <a:latin typeface="Lato" panose="020F0502020204030203" pitchFamily="34" charset="0"/>
              </a:rPr>
            </a:br>
            <a:r>
              <a:rPr lang="en-US" u="sng" dirty="0">
                <a:solidFill>
                  <a:srgbClr val="BDCDE3"/>
                </a:solidFill>
                <a:latin typeface="Lato" panose="020F0502020204030203" pitchFamily="34" charset="0"/>
                <a:hlinkClick r:id="rId7"/>
              </a:rPr>
              <a:t>Digital Architectural Survey and History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6ECE76-7B9B-47FF-B861-46F8D947E152}"/>
              </a:ext>
            </a:extLst>
          </p:cNvPr>
          <p:cNvSpPr txBox="1"/>
          <p:nvPr/>
        </p:nvSpPr>
        <p:spPr>
          <a:xfrm>
            <a:off x="6851868" y="2688832"/>
            <a:ext cx="8857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548B"/>
                </a:solidFill>
                <a:effectLst>
                  <a:glow rad="215900">
                    <a:schemeClr val="bg1">
                      <a:alpha val="80000"/>
                    </a:schemeClr>
                  </a:glow>
                </a:effectLst>
                <a:latin typeface="Copperplate Gothic Bold" panose="020E0705020206020404" pitchFamily="34" charset="0"/>
              </a:rPr>
              <a:t>C-Dash: </a:t>
            </a:r>
            <a:br>
              <a:rPr lang="en-US" sz="2800" dirty="0">
                <a:solidFill>
                  <a:srgbClr val="00548B"/>
                </a:solidFill>
                <a:effectLst>
                  <a:glow rad="215900">
                    <a:schemeClr val="bg1">
                      <a:alpha val="80000"/>
                    </a:schemeClr>
                  </a:glow>
                </a:effectLst>
                <a:latin typeface="Copperplate Gothic Bold" panose="020E0705020206020404" pitchFamily="34" charset="0"/>
              </a:rPr>
            </a:br>
            <a:r>
              <a:rPr lang="en-US" sz="2800" dirty="0">
                <a:solidFill>
                  <a:srgbClr val="00548B"/>
                </a:solidFill>
                <a:effectLst>
                  <a:glow rad="215900">
                    <a:schemeClr val="bg1">
                      <a:alpha val="80000"/>
                    </a:schemeClr>
                  </a:glow>
                </a:effectLst>
                <a:latin typeface="Copperplate Gothic Bold" panose="020E0705020206020404" pitchFamily="34" charset="0"/>
              </a:rPr>
              <a:t>Digital Architectural Survey and History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619B29-EE8E-40C4-84A5-F55D20EEA1FF}"/>
              </a:ext>
            </a:extLst>
          </p:cNvPr>
          <p:cNvGrpSpPr/>
          <p:nvPr/>
        </p:nvGrpSpPr>
        <p:grpSpPr>
          <a:xfrm>
            <a:off x="5369440" y="269925"/>
            <a:ext cx="10666250" cy="1321617"/>
            <a:chOff x="684439" y="3152900"/>
            <a:chExt cx="12372695" cy="1691334"/>
          </a:xfrm>
        </p:grpSpPr>
        <p:pic>
          <p:nvPicPr>
            <p:cNvPr id="20" name="Picture 2" descr="Image result for file cabinets">
              <a:extLst>
                <a:ext uri="{FF2B5EF4-FFF2-40B4-BE49-F238E27FC236}">
                  <a16:creationId xmlns:a16="http://schemas.microsoft.com/office/drawing/2014/main" id="{64EA4375-C56E-4637-AA45-190171A49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Image result for file cabinets">
              <a:extLst>
                <a:ext uri="{FF2B5EF4-FFF2-40B4-BE49-F238E27FC236}">
                  <a16:creationId xmlns:a16="http://schemas.microsoft.com/office/drawing/2014/main" id="{5C2CBEC1-1BC5-4914-B0EC-EDEE6C07C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 descr="Image result for file cabinets">
              <a:extLst>
                <a:ext uri="{FF2B5EF4-FFF2-40B4-BE49-F238E27FC236}">
                  <a16:creationId xmlns:a16="http://schemas.microsoft.com/office/drawing/2014/main" id="{595D7676-3980-4AC3-A12D-A21D6C187A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48000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613072" y="315290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Image result for file cabinets">
              <a:extLst>
                <a:ext uri="{FF2B5EF4-FFF2-40B4-BE49-F238E27FC236}">
                  <a16:creationId xmlns:a16="http://schemas.microsoft.com/office/drawing/2014/main" id="{67DFA6D4-2F48-458D-B301-5603E5D046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3933" y="3152900"/>
              <a:ext cx="2857626" cy="1676400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Image result for file cabinets">
              <a:extLst>
                <a:ext uri="{FF2B5EF4-FFF2-40B4-BE49-F238E27FC236}">
                  <a16:creationId xmlns:a16="http://schemas.microsoft.com/office/drawing/2014/main" id="{8B0CFE36-166E-4B70-97A2-B2ADD41ABC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104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99509" y="3167835"/>
              <a:ext cx="2857625" cy="1676399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6745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AC0EB4C-3A84-4925-838D-5235989495F9}"/>
              </a:ext>
            </a:extLst>
          </p:cNvPr>
          <p:cNvGrpSpPr/>
          <p:nvPr/>
        </p:nvGrpSpPr>
        <p:grpSpPr>
          <a:xfrm>
            <a:off x="5369440" y="3422979"/>
            <a:ext cx="10597120" cy="961670"/>
            <a:chOff x="684439" y="3152900"/>
            <a:chExt cx="12292506" cy="1689687"/>
          </a:xfrm>
        </p:grpSpPr>
        <p:pic>
          <p:nvPicPr>
            <p:cNvPr id="14" name="Picture 2" descr="Image result for file cabinets">
              <a:extLst>
                <a:ext uri="{FF2B5EF4-FFF2-40B4-BE49-F238E27FC236}">
                  <a16:creationId xmlns:a16="http://schemas.microsoft.com/office/drawing/2014/main" id="{30F28095-E51F-40E4-B3B5-418E4EF212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Image result for file cabinets">
              <a:extLst>
                <a:ext uri="{FF2B5EF4-FFF2-40B4-BE49-F238E27FC236}">
                  <a16:creationId xmlns:a16="http://schemas.microsoft.com/office/drawing/2014/main" id="{58BB5453-9019-4721-83F9-7973F2A6C4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Image result for file cabinets">
              <a:extLst>
                <a:ext uri="{FF2B5EF4-FFF2-40B4-BE49-F238E27FC236}">
                  <a16:creationId xmlns:a16="http://schemas.microsoft.com/office/drawing/2014/main" id="{824F855F-83F3-44B7-82B4-B042FA7420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48000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613072" y="315290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Image result for file cabinets">
              <a:extLst>
                <a:ext uri="{FF2B5EF4-FFF2-40B4-BE49-F238E27FC236}">
                  <a16:creationId xmlns:a16="http://schemas.microsoft.com/office/drawing/2014/main" id="{0BF76182-A612-49B1-B702-4E8F120E8C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3933" y="3152900"/>
              <a:ext cx="2857626" cy="1676400"/>
            </a:xfrm>
            <a:prstGeom prst="rect">
              <a:avLst/>
            </a:prstGeom>
            <a:noFill/>
            <a:effectLst>
              <a:glow rad="127000"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Image result for file cabinets">
              <a:extLst>
                <a:ext uri="{FF2B5EF4-FFF2-40B4-BE49-F238E27FC236}">
                  <a16:creationId xmlns:a16="http://schemas.microsoft.com/office/drawing/2014/main" id="{5D0D5F81-A88E-4A68-9B8F-0C8EDE1909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3589"/>
                      </a14:imgEffect>
                      <a14:imgEffect>
                        <a14:saturation sat="50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9319" y="3166187"/>
              <a:ext cx="2857626" cy="1676400"/>
            </a:xfrm>
            <a:prstGeom prst="rect">
              <a:avLst/>
            </a:prstGeom>
            <a:noFill/>
            <a:effectLst>
              <a:glow rad="127000"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C6A89A7-AC52-40A8-AADA-A2A6E2A16BE0}"/>
              </a:ext>
            </a:extLst>
          </p:cNvPr>
          <p:cNvGrpSpPr/>
          <p:nvPr/>
        </p:nvGrpSpPr>
        <p:grpSpPr>
          <a:xfrm>
            <a:off x="5369440" y="4883407"/>
            <a:ext cx="10597120" cy="1676400"/>
            <a:chOff x="684439" y="3152900"/>
            <a:chExt cx="10597120" cy="1676400"/>
          </a:xfrm>
        </p:grpSpPr>
        <p:pic>
          <p:nvPicPr>
            <p:cNvPr id="7" name="Picture 2" descr="Image result for file cabinets">
              <a:extLst>
                <a:ext uri="{FF2B5EF4-FFF2-40B4-BE49-F238E27FC236}">
                  <a16:creationId xmlns:a16="http://schemas.microsoft.com/office/drawing/2014/main" id="{6B229BC2-0FE9-4929-A6DF-9AFCDA208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613072" y="315290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Image result for file cabinets">
              <a:extLst>
                <a:ext uri="{FF2B5EF4-FFF2-40B4-BE49-F238E27FC236}">
                  <a16:creationId xmlns:a16="http://schemas.microsoft.com/office/drawing/2014/main" id="{997B3C91-2715-482A-884E-27F7E0A39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3933" y="3152900"/>
              <a:ext cx="285762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Image result for file cabinets">
              <a:extLst>
                <a:ext uri="{FF2B5EF4-FFF2-40B4-BE49-F238E27FC236}">
                  <a16:creationId xmlns:a16="http://schemas.microsoft.com/office/drawing/2014/main" id="{76C93F27-CA26-46BB-B61F-E4CB04C3CB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024988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Image result for file cabinets">
              <a:extLst>
                <a:ext uri="{FF2B5EF4-FFF2-40B4-BE49-F238E27FC236}">
                  <a16:creationId xmlns:a16="http://schemas.microsoft.com/office/drawing/2014/main" id="{0AE52A5A-055C-4639-A232-83CC6E271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3E960-E208-480B-89E6-52B31CBB81E7}"/>
              </a:ext>
            </a:extLst>
          </p:cNvPr>
          <p:cNvSpPr/>
          <p:nvPr/>
        </p:nvSpPr>
        <p:spPr>
          <a:xfrm>
            <a:off x="6731515" y="368308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dirty="0">
                <a:solidFill>
                  <a:srgbClr val="BDCDE3"/>
                </a:solidFill>
                <a:latin typeface="Lato" panose="020F0502020204030203" pitchFamily="34" charset="0"/>
                <a:hlinkClick r:id="rId6"/>
              </a:rPr>
            </a:br>
            <a:r>
              <a:rPr lang="en-US" u="sng" dirty="0">
                <a:solidFill>
                  <a:srgbClr val="BDCDE3"/>
                </a:solidFill>
                <a:latin typeface="Lato" panose="020F0502020204030203" pitchFamily="34" charset="0"/>
                <a:hlinkClick r:id="rId6"/>
              </a:rPr>
              <a:t>C-DASH </a:t>
            </a:r>
            <a:br>
              <a:rPr lang="en-US" u="sng" dirty="0">
                <a:solidFill>
                  <a:srgbClr val="BDCDE3"/>
                </a:solidFill>
                <a:latin typeface="Lato" panose="020F0502020204030203" pitchFamily="34" charset="0"/>
              </a:rPr>
            </a:br>
            <a:r>
              <a:rPr lang="en-US" u="sng" dirty="0">
                <a:solidFill>
                  <a:srgbClr val="BDCDE3"/>
                </a:solidFill>
                <a:latin typeface="Lato" panose="020F0502020204030203" pitchFamily="34" charset="0"/>
                <a:hlinkClick r:id="rId6"/>
              </a:rPr>
              <a:t>Digital Architectural Survey and History</a:t>
            </a:r>
            <a:br>
              <a:rPr lang="en-US" u="sng" dirty="0"/>
            </a:br>
            <a:endParaRPr lang="en-US" u="sng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619B29-EE8E-40C4-84A5-F55D20EEA1FF}"/>
              </a:ext>
            </a:extLst>
          </p:cNvPr>
          <p:cNvGrpSpPr/>
          <p:nvPr/>
        </p:nvGrpSpPr>
        <p:grpSpPr>
          <a:xfrm>
            <a:off x="4690164" y="271962"/>
            <a:ext cx="11276396" cy="1283619"/>
            <a:chOff x="-468929" y="3140307"/>
            <a:chExt cx="13926578" cy="1692827"/>
          </a:xfrm>
        </p:grpSpPr>
        <p:pic>
          <p:nvPicPr>
            <p:cNvPr id="22" name="Picture 2" descr="Image result for file cabinets">
              <a:extLst>
                <a:ext uri="{FF2B5EF4-FFF2-40B4-BE49-F238E27FC236}">
                  <a16:creationId xmlns:a16="http://schemas.microsoft.com/office/drawing/2014/main" id="{595D7676-3980-4AC3-A12D-A21D6C187A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48000"/>
                      </a14:imgEffect>
                      <a14:imgEffect>
                        <a14:colorTemperature colorTemp="6306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31663" y="315028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Image result for file cabinets">
              <a:extLst>
                <a:ext uri="{FF2B5EF4-FFF2-40B4-BE49-F238E27FC236}">
                  <a16:creationId xmlns:a16="http://schemas.microsoft.com/office/drawing/2014/main" id="{64EA4375-C56E-4637-AA45-190171A49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Image result for file cabinets">
              <a:extLst>
                <a:ext uri="{FF2B5EF4-FFF2-40B4-BE49-F238E27FC236}">
                  <a16:creationId xmlns:a16="http://schemas.microsoft.com/office/drawing/2014/main" id="{5C2CBEC1-1BC5-4914-B0EC-EDEE6C07C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alphaModFix amt="51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1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Image result for file cabinets">
              <a:extLst>
                <a:ext uri="{FF2B5EF4-FFF2-40B4-BE49-F238E27FC236}">
                  <a16:creationId xmlns:a16="http://schemas.microsoft.com/office/drawing/2014/main" id="{67DFA6D4-2F48-458D-B301-5603E5D046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alphaModFix amt="4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5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4491" y="3140307"/>
              <a:ext cx="2857626" cy="1676400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Image result for file cabinets">
              <a:extLst>
                <a:ext uri="{FF2B5EF4-FFF2-40B4-BE49-F238E27FC236}">
                  <a16:creationId xmlns:a16="http://schemas.microsoft.com/office/drawing/2014/main" id="{8B0CFE36-166E-4B70-97A2-B2ADD41ABC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alphaModFix amt="47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CrisscrossEtching/>
                      </a14:imgEffect>
                      <a14:imgEffect>
                        <a14:saturation sat="58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0024" y="3150281"/>
              <a:ext cx="2857625" cy="1676399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Image result for file cabinets">
              <a:extLst>
                <a:ext uri="{FF2B5EF4-FFF2-40B4-BE49-F238E27FC236}">
                  <a16:creationId xmlns:a16="http://schemas.microsoft.com/office/drawing/2014/main" id="{DA4F7410-D9C0-4A39-B5E2-9D1CBCB154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68929" y="3156734"/>
              <a:ext cx="2762204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4817110-3873-4634-A543-2F7B0616C93B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9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100" y="372044"/>
            <a:ext cx="1270483" cy="1111672"/>
          </a:xfrm>
          <a:prstGeom prst="rect">
            <a:avLst/>
          </a:prstGeom>
          <a:effectLst>
            <a:glow rad="76200">
              <a:schemeClr val="bg1">
                <a:alpha val="48000"/>
              </a:schemeClr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6ECE76-7B9B-47FF-B861-46F8D947E152}"/>
              </a:ext>
            </a:extLst>
          </p:cNvPr>
          <p:cNvSpPr txBox="1"/>
          <p:nvPr/>
        </p:nvSpPr>
        <p:spPr>
          <a:xfrm>
            <a:off x="6082339" y="372044"/>
            <a:ext cx="9928903" cy="1077218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  <a:t>C-Dash: </a:t>
            </a:r>
            <a:b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</a:br>
            <a: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  <a:t>Digital Architectural Survey and History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6A81535-BAEE-4A50-AD99-ECF0D140C721}"/>
              </a:ext>
            </a:extLst>
          </p:cNvPr>
          <p:cNvGrpSpPr/>
          <p:nvPr/>
        </p:nvGrpSpPr>
        <p:grpSpPr>
          <a:xfrm>
            <a:off x="4762587" y="1672983"/>
            <a:ext cx="11276396" cy="1283619"/>
            <a:chOff x="-468929" y="3140307"/>
            <a:chExt cx="13926578" cy="1692827"/>
          </a:xfrm>
        </p:grpSpPr>
        <p:pic>
          <p:nvPicPr>
            <p:cNvPr id="27" name="Picture 2" descr="Image result for file cabinets">
              <a:extLst>
                <a:ext uri="{FF2B5EF4-FFF2-40B4-BE49-F238E27FC236}">
                  <a16:creationId xmlns:a16="http://schemas.microsoft.com/office/drawing/2014/main" id="{B1EA2C62-1992-4FB9-974F-B5B6221DCF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48000"/>
                      </a14:imgEffect>
                      <a14:imgEffect>
                        <a14:colorTemperature colorTemp="6306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31663" y="315028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Image result for file cabinets">
              <a:extLst>
                <a:ext uri="{FF2B5EF4-FFF2-40B4-BE49-F238E27FC236}">
                  <a16:creationId xmlns:a16="http://schemas.microsoft.com/office/drawing/2014/main" id="{88A9BC9B-C4E1-4776-B849-641F313610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 descr="Image result for file cabinets">
              <a:extLst>
                <a:ext uri="{FF2B5EF4-FFF2-40B4-BE49-F238E27FC236}">
                  <a16:creationId xmlns:a16="http://schemas.microsoft.com/office/drawing/2014/main" id="{33067B10-2A9F-491D-935D-755E44BAA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alphaModFix amt="51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1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 descr="Image result for file cabinets">
              <a:extLst>
                <a:ext uri="{FF2B5EF4-FFF2-40B4-BE49-F238E27FC236}">
                  <a16:creationId xmlns:a16="http://schemas.microsoft.com/office/drawing/2014/main" id="{129CD826-CDCE-41B9-AEF5-CD187185DA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alphaModFix amt="4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5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4491" y="3140307"/>
              <a:ext cx="2857626" cy="1676400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Image result for file cabinets">
              <a:extLst>
                <a:ext uri="{FF2B5EF4-FFF2-40B4-BE49-F238E27FC236}">
                  <a16:creationId xmlns:a16="http://schemas.microsoft.com/office/drawing/2014/main" id="{85C13A1E-477A-476D-98F1-5E09342EE1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alphaModFix amt="47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CrisscrossEtching/>
                      </a14:imgEffect>
                      <a14:imgEffect>
                        <a14:saturation sat="58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0024" y="3150281"/>
              <a:ext cx="2857625" cy="1676399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 descr="Image result for file cabinets">
              <a:extLst>
                <a:ext uri="{FF2B5EF4-FFF2-40B4-BE49-F238E27FC236}">
                  <a16:creationId xmlns:a16="http://schemas.microsoft.com/office/drawing/2014/main" id="{901C5338-400B-4B5F-9959-41AEA3318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68929" y="3156734"/>
              <a:ext cx="2762204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6B0E2643-183C-4C83-ADF8-C3873BEB2138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9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11200"/>
                    </a14:imgEffect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524" y="1773064"/>
            <a:ext cx="1270483" cy="1111672"/>
          </a:xfrm>
          <a:prstGeom prst="rect">
            <a:avLst/>
          </a:prstGeom>
          <a:effectLst>
            <a:glow rad="76200">
              <a:schemeClr val="bg1">
                <a:alpha val="48000"/>
              </a:schemeClr>
            </a:glo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9B45583-1983-44F5-827B-2433268FE0CC}"/>
              </a:ext>
            </a:extLst>
          </p:cNvPr>
          <p:cNvSpPr txBox="1"/>
          <p:nvPr/>
        </p:nvSpPr>
        <p:spPr>
          <a:xfrm>
            <a:off x="6154763" y="1773064"/>
            <a:ext cx="9928903" cy="1077218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  <a:t>C-Dash: </a:t>
            </a:r>
            <a:b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</a:br>
            <a: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  <a:t>Digital Architectural Survey and History</a:t>
            </a:r>
          </a:p>
        </p:txBody>
      </p:sp>
    </p:spTree>
    <p:extLst>
      <p:ext uri="{BB962C8B-B14F-4D97-AF65-F5344CB8AC3E}">
        <p14:creationId xmlns:p14="http://schemas.microsoft.com/office/powerpoint/2010/main" val="921659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A0790F7-7C86-67D3-BB44-3BBF48C79B97}"/>
              </a:ext>
            </a:extLst>
          </p:cNvPr>
          <p:cNvGrpSpPr/>
          <p:nvPr/>
        </p:nvGrpSpPr>
        <p:grpSpPr>
          <a:xfrm>
            <a:off x="0" y="1825383"/>
            <a:ext cx="11321077" cy="1283619"/>
            <a:chOff x="190587" y="1672981"/>
            <a:chExt cx="11321077" cy="128361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6A81535-BAEE-4A50-AD99-ECF0D140C721}"/>
                </a:ext>
              </a:extLst>
            </p:cNvPr>
            <p:cNvGrpSpPr/>
            <p:nvPr/>
          </p:nvGrpSpPr>
          <p:grpSpPr>
            <a:xfrm>
              <a:off x="190587" y="1672981"/>
              <a:ext cx="11276396" cy="1283619"/>
              <a:chOff x="-468929" y="3140307"/>
              <a:chExt cx="13926578" cy="1692827"/>
            </a:xfrm>
          </p:grpSpPr>
          <p:pic>
            <p:nvPicPr>
              <p:cNvPr id="27" name="Picture 2" descr="Image result for file cabinets">
                <a:extLst>
                  <a:ext uri="{FF2B5EF4-FFF2-40B4-BE49-F238E27FC236}">
                    <a16:creationId xmlns:a16="http://schemas.microsoft.com/office/drawing/2014/main" id="{B1EA2C62-1992-4FB9-974F-B5B6221DCF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48000"/>
                        </a14:imgEffect>
                        <a14:imgEffect>
                          <a14:colorTemperature colorTemp="6306"/>
                        </a14:imgEffect>
                        <a14:imgEffect>
                          <a14:brightnessContrast bright="6000" contrast="-51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531663" y="3150280"/>
                <a:ext cx="3127166" cy="167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Picture 2" descr="Image result for file cabinets">
                <a:extLst>
                  <a:ext uri="{FF2B5EF4-FFF2-40B4-BE49-F238E27FC236}">
                    <a16:creationId xmlns:a16="http://schemas.microsoft.com/office/drawing/2014/main" id="{88A9BC9B-C4E1-4776-B849-641F313610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alphaModFix amt="58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4439" y="3152900"/>
                <a:ext cx="2724150" cy="167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9" name="Picture 2" descr="Image result for file cabinets">
                <a:extLst>
                  <a:ext uri="{FF2B5EF4-FFF2-40B4-BE49-F238E27FC236}">
                    <a16:creationId xmlns:a16="http://schemas.microsoft.com/office/drawing/2014/main" id="{33067B10-2A9F-491D-935D-755E44BAA1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alphaModFix amt="51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1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956955" y="3152900"/>
                <a:ext cx="3194462" cy="167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2" descr="Image result for file cabinets">
                <a:extLst>
                  <a:ext uri="{FF2B5EF4-FFF2-40B4-BE49-F238E27FC236}">
                    <a16:creationId xmlns:a16="http://schemas.microsoft.com/office/drawing/2014/main" id="{129CD826-CDCE-41B9-AEF5-CD187185DA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alphaModFix amt="48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5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74491" y="3140307"/>
                <a:ext cx="2857626" cy="1676400"/>
              </a:xfrm>
              <a:prstGeom prst="rect">
                <a:avLst/>
              </a:prstGeom>
              <a:noFill/>
              <a:effectLst>
                <a:glow>
                  <a:schemeClr val="accent1">
                    <a:alpha val="11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2" descr="Image result for file cabinets">
                <a:extLst>
                  <a:ext uri="{FF2B5EF4-FFF2-40B4-BE49-F238E27FC236}">
                    <a16:creationId xmlns:a16="http://schemas.microsoft.com/office/drawing/2014/main" id="{85C13A1E-477A-476D-98F1-5E09342EE1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alphaModFix amt="47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  <a14:imgEffect>
                          <a14:saturation sat="58000"/>
                        </a14:imgEffect>
                        <a14:imgEffect>
                          <a14:brightnessContrast contrast="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00024" y="3150281"/>
                <a:ext cx="2857625" cy="1676399"/>
              </a:xfrm>
              <a:prstGeom prst="rect">
                <a:avLst/>
              </a:prstGeom>
              <a:noFill/>
              <a:effectLst>
                <a:glow>
                  <a:schemeClr val="accent1">
                    <a:alpha val="11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2" descr="Image result for file cabinets">
                <a:extLst>
                  <a:ext uri="{FF2B5EF4-FFF2-40B4-BE49-F238E27FC236}">
                    <a16:creationId xmlns:a16="http://schemas.microsoft.com/office/drawing/2014/main" id="{901C5338-400B-4B5F-9959-41AEA33180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alphaModFix amt="58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68929" y="3156734"/>
                <a:ext cx="2762204" cy="1676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B0E2643-183C-4C83-ADF8-C3873BEB2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90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colorTemperature colorTemp="11200"/>
                      </a14:imgEffect>
                      <a14:imgEffect>
                        <a14:saturation sa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522" y="1773064"/>
              <a:ext cx="1270483" cy="1111672"/>
            </a:xfrm>
            <a:prstGeom prst="rect">
              <a:avLst/>
            </a:prstGeom>
            <a:effectLst>
              <a:glow rad="76200">
                <a:schemeClr val="bg1">
                  <a:alpha val="48000"/>
                </a:schemeClr>
              </a:glow>
            </a:effec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9B45583-1983-44F5-827B-2433268FE0CC}"/>
                </a:ext>
              </a:extLst>
            </p:cNvPr>
            <p:cNvSpPr txBox="1"/>
            <p:nvPr/>
          </p:nvSpPr>
          <p:spPr>
            <a:xfrm>
              <a:off x="1582761" y="1773064"/>
              <a:ext cx="9928903" cy="1077218"/>
            </a:xfrm>
            <a:prstGeom prst="rect">
              <a:avLst/>
            </a:prstGeom>
            <a:noFill/>
            <a:ln>
              <a:noFill/>
            </a:ln>
            <a:effectLst>
              <a:glow>
                <a:schemeClr val="accent1"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n w="10160">
                    <a:solidFill>
                      <a:srgbClr val="00548B"/>
                    </a:solidFill>
                  </a:ln>
                  <a:solidFill>
                    <a:srgbClr val="757575">
                      <a:alpha val="66000"/>
                    </a:srgbClr>
                  </a:solidFill>
                  <a:effectLst>
                    <a:glow rad="152400">
                      <a:srgbClr val="B4B7AF"/>
                    </a:glow>
                  </a:effectLst>
                  <a:latin typeface="Copperplate Gothic Bold" panose="020E0705020206020404" pitchFamily="34" charset="0"/>
                </a:rPr>
                <a:t>C-Dash: </a:t>
              </a:r>
              <a:br>
                <a:rPr lang="en-US" sz="3200" dirty="0">
                  <a:ln w="10160">
                    <a:solidFill>
                      <a:srgbClr val="00548B"/>
                    </a:solidFill>
                  </a:ln>
                  <a:solidFill>
                    <a:srgbClr val="757575">
                      <a:alpha val="66000"/>
                    </a:srgbClr>
                  </a:solidFill>
                  <a:effectLst>
                    <a:glow rad="152400">
                      <a:srgbClr val="B4B7AF"/>
                    </a:glow>
                  </a:effectLst>
                  <a:latin typeface="Copperplate Gothic Bold" panose="020E0705020206020404" pitchFamily="34" charset="0"/>
                </a:rPr>
              </a:br>
              <a:r>
                <a:rPr lang="en-US" sz="3200" dirty="0">
                  <a:ln w="10160">
                    <a:solidFill>
                      <a:srgbClr val="00548B"/>
                    </a:solidFill>
                  </a:ln>
                  <a:solidFill>
                    <a:srgbClr val="757575">
                      <a:alpha val="66000"/>
                    </a:srgbClr>
                  </a:solidFill>
                  <a:effectLst>
                    <a:glow rad="152400">
                      <a:srgbClr val="B4B7AF"/>
                    </a:glow>
                  </a:effectLst>
                  <a:latin typeface="Copperplate Gothic Bold" panose="020E0705020206020404" pitchFamily="34" charset="0"/>
                </a:rPr>
                <a:t>Digital Architectural Survey and History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0AFEE8F-87D7-14B0-4203-547C3977F916}"/>
              </a:ext>
            </a:extLst>
          </p:cNvPr>
          <p:cNvGrpSpPr/>
          <p:nvPr/>
        </p:nvGrpSpPr>
        <p:grpSpPr>
          <a:xfrm>
            <a:off x="11276395" y="1815833"/>
            <a:ext cx="10342510" cy="1280712"/>
            <a:chOff x="684439" y="3140307"/>
            <a:chExt cx="12773210" cy="1688993"/>
          </a:xfrm>
        </p:grpSpPr>
        <p:pic>
          <p:nvPicPr>
            <p:cNvPr id="9" name="Picture 2" descr="Image result for file cabinets">
              <a:extLst>
                <a:ext uri="{FF2B5EF4-FFF2-40B4-BE49-F238E27FC236}">
                  <a16:creationId xmlns:a16="http://schemas.microsoft.com/office/drawing/2014/main" id="{97FD456E-5453-D33B-3922-F6C7FD6B9B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48000"/>
                      </a14:imgEffect>
                      <a14:imgEffect>
                        <a14:colorTemperature colorTemp="6306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31663" y="315028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Image result for file cabinets">
              <a:extLst>
                <a:ext uri="{FF2B5EF4-FFF2-40B4-BE49-F238E27FC236}">
                  <a16:creationId xmlns:a16="http://schemas.microsoft.com/office/drawing/2014/main" id="{D2B1DD43-DECF-11AB-E3FC-91FF48095D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2" descr="Image result for file cabinets">
              <a:extLst>
                <a:ext uri="{FF2B5EF4-FFF2-40B4-BE49-F238E27FC236}">
                  <a16:creationId xmlns:a16="http://schemas.microsoft.com/office/drawing/2014/main" id="{3E5CEA34-73D5-CC31-9EAB-FFA9C6EB6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alphaModFix amt="51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1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" descr="Image result for file cabinets">
              <a:extLst>
                <a:ext uri="{FF2B5EF4-FFF2-40B4-BE49-F238E27FC236}">
                  <a16:creationId xmlns:a16="http://schemas.microsoft.com/office/drawing/2014/main" id="{04371013-BF75-8C52-4A77-DFA2720BC2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alphaModFix amt="48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5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4491" y="3140307"/>
              <a:ext cx="2857626" cy="1676400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Image result for file cabinets">
              <a:extLst>
                <a:ext uri="{FF2B5EF4-FFF2-40B4-BE49-F238E27FC236}">
                  <a16:creationId xmlns:a16="http://schemas.microsoft.com/office/drawing/2014/main" id="{7723E869-2F34-9C50-816C-A8E44880C5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alphaModFix amt="47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CrisscrossEtching/>
                      </a14:imgEffect>
                      <a14:imgEffect>
                        <a14:saturation sat="58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0024" y="3150281"/>
              <a:ext cx="2857625" cy="1676399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39901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AC0EB4C-3A84-4925-838D-5235989495F9}"/>
              </a:ext>
            </a:extLst>
          </p:cNvPr>
          <p:cNvGrpSpPr/>
          <p:nvPr/>
        </p:nvGrpSpPr>
        <p:grpSpPr>
          <a:xfrm>
            <a:off x="5369440" y="3422979"/>
            <a:ext cx="10597120" cy="961670"/>
            <a:chOff x="684439" y="3152900"/>
            <a:chExt cx="12292506" cy="1689687"/>
          </a:xfrm>
        </p:grpSpPr>
        <p:pic>
          <p:nvPicPr>
            <p:cNvPr id="14" name="Picture 2" descr="Image result for file cabinets">
              <a:extLst>
                <a:ext uri="{FF2B5EF4-FFF2-40B4-BE49-F238E27FC236}">
                  <a16:creationId xmlns:a16="http://schemas.microsoft.com/office/drawing/2014/main" id="{30F28095-E51F-40E4-B3B5-418E4EF212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Image result for file cabinets">
              <a:extLst>
                <a:ext uri="{FF2B5EF4-FFF2-40B4-BE49-F238E27FC236}">
                  <a16:creationId xmlns:a16="http://schemas.microsoft.com/office/drawing/2014/main" id="{58BB5453-9019-4721-83F9-7973F2A6C4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Image result for file cabinets">
              <a:extLst>
                <a:ext uri="{FF2B5EF4-FFF2-40B4-BE49-F238E27FC236}">
                  <a16:creationId xmlns:a16="http://schemas.microsoft.com/office/drawing/2014/main" id="{824F855F-83F3-44B7-82B4-B042FA7420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48000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613072" y="315290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Image result for file cabinets">
              <a:extLst>
                <a:ext uri="{FF2B5EF4-FFF2-40B4-BE49-F238E27FC236}">
                  <a16:creationId xmlns:a16="http://schemas.microsoft.com/office/drawing/2014/main" id="{0BF76182-A612-49B1-B702-4E8F120E8C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3933" y="3152900"/>
              <a:ext cx="2857626" cy="1676400"/>
            </a:xfrm>
            <a:prstGeom prst="rect">
              <a:avLst/>
            </a:prstGeom>
            <a:noFill/>
            <a:effectLst>
              <a:glow rad="127000"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Image result for file cabinets">
              <a:extLst>
                <a:ext uri="{FF2B5EF4-FFF2-40B4-BE49-F238E27FC236}">
                  <a16:creationId xmlns:a16="http://schemas.microsoft.com/office/drawing/2014/main" id="{5D0D5F81-A88E-4A68-9B8F-0C8EDE1909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3589"/>
                      </a14:imgEffect>
                      <a14:imgEffect>
                        <a14:saturation sat="50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9319" y="3166187"/>
              <a:ext cx="2857626" cy="1676400"/>
            </a:xfrm>
            <a:prstGeom prst="rect">
              <a:avLst/>
            </a:prstGeom>
            <a:noFill/>
            <a:effectLst>
              <a:glow rad="127000"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C6A89A7-AC52-40A8-AADA-A2A6E2A16BE0}"/>
              </a:ext>
            </a:extLst>
          </p:cNvPr>
          <p:cNvGrpSpPr/>
          <p:nvPr/>
        </p:nvGrpSpPr>
        <p:grpSpPr>
          <a:xfrm>
            <a:off x="5369440" y="4883407"/>
            <a:ext cx="10597120" cy="1676400"/>
            <a:chOff x="684439" y="3152900"/>
            <a:chExt cx="10597120" cy="1676400"/>
          </a:xfrm>
        </p:grpSpPr>
        <p:pic>
          <p:nvPicPr>
            <p:cNvPr id="7" name="Picture 2" descr="Image result for file cabinets">
              <a:extLst>
                <a:ext uri="{FF2B5EF4-FFF2-40B4-BE49-F238E27FC236}">
                  <a16:creationId xmlns:a16="http://schemas.microsoft.com/office/drawing/2014/main" id="{6B229BC2-0FE9-4929-A6DF-9AFCDA208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613072" y="315290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Image result for file cabinets">
              <a:extLst>
                <a:ext uri="{FF2B5EF4-FFF2-40B4-BE49-F238E27FC236}">
                  <a16:creationId xmlns:a16="http://schemas.microsoft.com/office/drawing/2014/main" id="{997B3C91-2715-482A-884E-27F7E0A39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3933" y="3152900"/>
              <a:ext cx="285762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Image result for file cabinets">
              <a:extLst>
                <a:ext uri="{FF2B5EF4-FFF2-40B4-BE49-F238E27FC236}">
                  <a16:creationId xmlns:a16="http://schemas.microsoft.com/office/drawing/2014/main" id="{76C93F27-CA26-46BB-B61F-E4CB04C3CB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024988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Image result for file cabinets">
              <a:extLst>
                <a:ext uri="{FF2B5EF4-FFF2-40B4-BE49-F238E27FC236}">
                  <a16:creationId xmlns:a16="http://schemas.microsoft.com/office/drawing/2014/main" id="{0AE52A5A-055C-4639-A232-83CC6E271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3E960-E208-480B-89E6-52B31CBB81E7}"/>
              </a:ext>
            </a:extLst>
          </p:cNvPr>
          <p:cNvSpPr/>
          <p:nvPr/>
        </p:nvSpPr>
        <p:spPr>
          <a:xfrm>
            <a:off x="6731515" y="368308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dirty="0">
                <a:solidFill>
                  <a:srgbClr val="BDCDE3"/>
                </a:solidFill>
                <a:latin typeface="Lato" panose="020F0502020204030203" pitchFamily="34" charset="0"/>
                <a:hlinkClick r:id="rId6"/>
              </a:rPr>
            </a:br>
            <a:r>
              <a:rPr lang="en-US" u="sng" dirty="0">
                <a:solidFill>
                  <a:srgbClr val="BDCDE3"/>
                </a:solidFill>
                <a:latin typeface="Lato" panose="020F0502020204030203" pitchFamily="34" charset="0"/>
                <a:hlinkClick r:id="rId6"/>
              </a:rPr>
              <a:t>C-DASH </a:t>
            </a:r>
            <a:br>
              <a:rPr lang="en-US" u="sng" dirty="0">
                <a:solidFill>
                  <a:srgbClr val="BDCDE3"/>
                </a:solidFill>
                <a:latin typeface="Lato" panose="020F0502020204030203" pitchFamily="34" charset="0"/>
              </a:rPr>
            </a:br>
            <a:r>
              <a:rPr lang="en-US" u="sng" dirty="0">
                <a:solidFill>
                  <a:srgbClr val="BDCDE3"/>
                </a:solidFill>
                <a:latin typeface="Lato" panose="020F0502020204030203" pitchFamily="34" charset="0"/>
                <a:hlinkClick r:id="rId6"/>
              </a:rPr>
              <a:t>Digital Architectural Survey and History</a:t>
            </a:r>
            <a:br>
              <a:rPr lang="en-US" u="sng" dirty="0"/>
            </a:br>
            <a:endParaRPr lang="en-US" u="sng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619B29-EE8E-40C4-84A5-F55D20EEA1FF}"/>
              </a:ext>
            </a:extLst>
          </p:cNvPr>
          <p:cNvGrpSpPr/>
          <p:nvPr/>
        </p:nvGrpSpPr>
        <p:grpSpPr>
          <a:xfrm>
            <a:off x="4690164" y="271962"/>
            <a:ext cx="11276396" cy="1283619"/>
            <a:chOff x="-468929" y="3140307"/>
            <a:chExt cx="13926578" cy="1692827"/>
          </a:xfrm>
        </p:grpSpPr>
        <p:pic>
          <p:nvPicPr>
            <p:cNvPr id="22" name="Picture 2" descr="Image result for file cabinets">
              <a:extLst>
                <a:ext uri="{FF2B5EF4-FFF2-40B4-BE49-F238E27FC236}">
                  <a16:creationId xmlns:a16="http://schemas.microsoft.com/office/drawing/2014/main" id="{595D7676-3980-4AC3-A12D-A21D6C187A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48000"/>
                      </a14:imgEffect>
                      <a14:imgEffect>
                        <a14:colorTemperature colorTemp="6306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31663" y="315028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Image result for file cabinets">
              <a:extLst>
                <a:ext uri="{FF2B5EF4-FFF2-40B4-BE49-F238E27FC236}">
                  <a16:creationId xmlns:a16="http://schemas.microsoft.com/office/drawing/2014/main" id="{64EA4375-C56E-4637-AA45-190171A49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Image result for file cabinets">
              <a:extLst>
                <a:ext uri="{FF2B5EF4-FFF2-40B4-BE49-F238E27FC236}">
                  <a16:creationId xmlns:a16="http://schemas.microsoft.com/office/drawing/2014/main" id="{5C2CBEC1-1BC5-4914-B0EC-EDEE6C07C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alphaModFix amt="51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1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Image result for file cabinets">
              <a:extLst>
                <a:ext uri="{FF2B5EF4-FFF2-40B4-BE49-F238E27FC236}">
                  <a16:creationId xmlns:a16="http://schemas.microsoft.com/office/drawing/2014/main" id="{67DFA6D4-2F48-458D-B301-5603E5D046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alphaModFix amt="4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5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4491" y="3140307"/>
              <a:ext cx="2857626" cy="1676400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Image result for file cabinets">
              <a:extLst>
                <a:ext uri="{FF2B5EF4-FFF2-40B4-BE49-F238E27FC236}">
                  <a16:creationId xmlns:a16="http://schemas.microsoft.com/office/drawing/2014/main" id="{8B0CFE36-166E-4B70-97A2-B2ADD41ABC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alphaModFix amt="47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CrisscrossEtching/>
                      </a14:imgEffect>
                      <a14:imgEffect>
                        <a14:saturation sat="58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0024" y="3150281"/>
              <a:ext cx="2857625" cy="1676399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Image result for file cabinets">
              <a:extLst>
                <a:ext uri="{FF2B5EF4-FFF2-40B4-BE49-F238E27FC236}">
                  <a16:creationId xmlns:a16="http://schemas.microsoft.com/office/drawing/2014/main" id="{DA4F7410-D9C0-4A39-B5E2-9D1CBCB154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68929" y="3156734"/>
              <a:ext cx="2762204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4817110-3873-4634-A543-2F7B0616C93B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9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100" y="372044"/>
            <a:ext cx="1270483" cy="1111672"/>
          </a:xfrm>
          <a:prstGeom prst="rect">
            <a:avLst/>
          </a:prstGeom>
          <a:effectLst>
            <a:glow rad="76200">
              <a:schemeClr val="bg1">
                <a:alpha val="48000"/>
              </a:schemeClr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6ECE76-7B9B-47FF-B861-46F8D947E152}"/>
              </a:ext>
            </a:extLst>
          </p:cNvPr>
          <p:cNvSpPr txBox="1"/>
          <p:nvPr/>
        </p:nvSpPr>
        <p:spPr>
          <a:xfrm>
            <a:off x="6082339" y="372044"/>
            <a:ext cx="9928903" cy="1077218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  <a:t>C-Dash: </a:t>
            </a:r>
            <a:b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</a:br>
            <a: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  <a:t>Digital Architectural Survey and History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6A81535-BAEE-4A50-AD99-ECF0D140C721}"/>
              </a:ext>
            </a:extLst>
          </p:cNvPr>
          <p:cNvGrpSpPr/>
          <p:nvPr/>
        </p:nvGrpSpPr>
        <p:grpSpPr>
          <a:xfrm>
            <a:off x="4762587" y="1672983"/>
            <a:ext cx="11276396" cy="1283619"/>
            <a:chOff x="-468929" y="3140307"/>
            <a:chExt cx="13926578" cy="1692827"/>
          </a:xfrm>
        </p:grpSpPr>
        <p:pic>
          <p:nvPicPr>
            <p:cNvPr id="27" name="Picture 2" descr="Image result for file cabinets">
              <a:extLst>
                <a:ext uri="{FF2B5EF4-FFF2-40B4-BE49-F238E27FC236}">
                  <a16:creationId xmlns:a16="http://schemas.microsoft.com/office/drawing/2014/main" id="{B1EA2C62-1992-4FB9-974F-B5B6221DCF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48000"/>
                      </a14:imgEffect>
                      <a14:imgEffect>
                        <a14:colorTemperature colorTemp="6306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31663" y="315028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Image result for file cabinets">
              <a:extLst>
                <a:ext uri="{FF2B5EF4-FFF2-40B4-BE49-F238E27FC236}">
                  <a16:creationId xmlns:a16="http://schemas.microsoft.com/office/drawing/2014/main" id="{88A9BC9B-C4E1-4776-B849-641F313610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 descr="Image result for file cabinets">
              <a:extLst>
                <a:ext uri="{FF2B5EF4-FFF2-40B4-BE49-F238E27FC236}">
                  <a16:creationId xmlns:a16="http://schemas.microsoft.com/office/drawing/2014/main" id="{33067B10-2A9F-491D-935D-755E44BAA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alphaModFix amt="51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1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 descr="Image result for file cabinets">
              <a:extLst>
                <a:ext uri="{FF2B5EF4-FFF2-40B4-BE49-F238E27FC236}">
                  <a16:creationId xmlns:a16="http://schemas.microsoft.com/office/drawing/2014/main" id="{129CD826-CDCE-41B9-AEF5-CD187185DA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alphaModFix amt="4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5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4491" y="3140307"/>
              <a:ext cx="2857626" cy="1676400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Image result for file cabinets">
              <a:extLst>
                <a:ext uri="{FF2B5EF4-FFF2-40B4-BE49-F238E27FC236}">
                  <a16:creationId xmlns:a16="http://schemas.microsoft.com/office/drawing/2014/main" id="{85C13A1E-477A-476D-98F1-5E09342EE1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alphaModFix amt="47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CrisscrossEtching/>
                      </a14:imgEffect>
                      <a14:imgEffect>
                        <a14:saturation sat="58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0024" y="3150281"/>
              <a:ext cx="2857625" cy="1676399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 descr="Image result for file cabinets">
              <a:extLst>
                <a:ext uri="{FF2B5EF4-FFF2-40B4-BE49-F238E27FC236}">
                  <a16:creationId xmlns:a16="http://schemas.microsoft.com/office/drawing/2014/main" id="{901C5338-400B-4B5F-9959-41AEA3318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68929" y="3156734"/>
              <a:ext cx="2762204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6B0E2643-183C-4C83-ADF8-C3873BEB2138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9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11200"/>
                    </a14:imgEffect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524" y="1773064"/>
            <a:ext cx="1270483" cy="1111672"/>
          </a:xfrm>
          <a:prstGeom prst="rect">
            <a:avLst/>
          </a:prstGeom>
          <a:effectLst>
            <a:glow rad="76200">
              <a:schemeClr val="bg1">
                <a:alpha val="48000"/>
              </a:schemeClr>
            </a:glo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9B45583-1983-44F5-827B-2433268FE0CC}"/>
              </a:ext>
            </a:extLst>
          </p:cNvPr>
          <p:cNvSpPr txBox="1"/>
          <p:nvPr/>
        </p:nvSpPr>
        <p:spPr>
          <a:xfrm>
            <a:off x="6082340" y="3314993"/>
            <a:ext cx="9928903" cy="1077218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  <a:t>C-Dash: </a:t>
            </a:r>
            <a:b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</a:br>
            <a: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  <a:t>Digital Architectural Survey and History</a:t>
            </a:r>
          </a:p>
        </p:txBody>
      </p:sp>
    </p:spTree>
    <p:extLst>
      <p:ext uri="{BB962C8B-B14F-4D97-AF65-F5344CB8AC3E}">
        <p14:creationId xmlns:p14="http://schemas.microsoft.com/office/powerpoint/2010/main" val="209664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C6A89A7-AC52-40A8-AADA-A2A6E2A16BE0}"/>
              </a:ext>
            </a:extLst>
          </p:cNvPr>
          <p:cNvGrpSpPr/>
          <p:nvPr/>
        </p:nvGrpSpPr>
        <p:grpSpPr>
          <a:xfrm>
            <a:off x="5369440" y="4883407"/>
            <a:ext cx="10597120" cy="1676400"/>
            <a:chOff x="684439" y="3152900"/>
            <a:chExt cx="10597120" cy="1676400"/>
          </a:xfrm>
        </p:grpSpPr>
        <p:pic>
          <p:nvPicPr>
            <p:cNvPr id="7" name="Picture 2" descr="Image result for file cabinets">
              <a:extLst>
                <a:ext uri="{FF2B5EF4-FFF2-40B4-BE49-F238E27FC236}">
                  <a16:creationId xmlns:a16="http://schemas.microsoft.com/office/drawing/2014/main" id="{6B229BC2-0FE9-4929-A6DF-9AFCDA208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613072" y="315290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Image result for file cabinets">
              <a:extLst>
                <a:ext uri="{FF2B5EF4-FFF2-40B4-BE49-F238E27FC236}">
                  <a16:creationId xmlns:a16="http://schemas.microsoft.com/office/drawing/2014/main" id="{997B3C91-2715-482A-884E-27F7E0A39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3933" y="3152900"/>
              <a:ext cx="285762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Image result for file cabinets">
              <a:extLst>
                <a:ext uri="{FF2B5EF4-FFF2-40B4-BE49-F238E27FC236}">
                  <a16:creationId xmlns:a16="http://schemas.microsoft.com/office/drawing/2014/main" id="{76C93F27-CA26-46BB-B61F-E4CB04C3CB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024988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Image result for file cabinets">
              <a:extLst>
                <a:ext uri="{FF2B5EF4-FFF2-40B4-BE49-F238E27FC236}">
                  <a16:creationId xmlns:a16="http://schemas.microsoft.com/office/drawing/2014/main" id="{0AE52A5A-055C-4639-A232-83CC6E271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E619B29-EE8E-40C4-84A5-F55D20EEA1FF}"/>
              </a:ext>
            </a:extLst>
          </p:cNvPr>
          <p:cNvGrpSpPr/>
          <p:nvPr/>
        </p:nvGrpSpPr>
        <p:grpSpPr>
          <a:xfrm>
            <a:off x="4690164" y="271962"/>
            <a:ext cx="11276396" cy="1283619"/>
            <a:chOff x="-468929" y="3140307"/>
            <a:chExt cx="13926578" cy="1692827"/>
          </a:xfrm>
        </p:grpSpPr>
        <p:pic>
          <p:nvPicPr>
            <p:cNvPr id="22" name="Picture 2" descr="Image result for file cabinets">
              <a:extLst>
                <a:ext uri="{FF2B5EF4-FFF2-40B4-BE49-F238E27FC236}">
                  <a16:creationId xmlns:a16="http://schemas.microsoft.com/office/drawing/2014/main" id="{595D7676-3980-4AC3-A12D-A21D6C187A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48000"/>
                      </a14:imgEffect>
                      <a14:imgEffect>
                        <a14:colorTemperature colorTemp="6306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31663" y="315028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Image result for file cabinets">
              <a:extLst>
                <a:ext uri="{FF2B5EF4-FFF2-40B4-BE49-F238E27FC236}">
                  <a16:creationId xmlns:a16="http://schemas.microsoft.com/office/drawing/2014/main" id="{64EA4375-C56E-4637-AA45-190171A49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Image result for file cabinets">
              <a:extLst>
                <a:ext uri="{FF2B5EF4-FFF2-40B4-BE49-F238E27FC236}">
                  <a16:creationId xmlns:a16="http://schemas.microsoft.com/office/drawing/2014/main" id="{5C2CBEC1-1BC5-4914-B0EC-EDEE6C07C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alphaModFix amt="51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1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Image result for file cabinets">
              <a:extLst>
                <a:ext uri="{FF2B5EF4-FFF2-40B4-BE49-F238E27FC236}">
                  <a16:creationId xmlns:a16="http://schemas.microsoft.com/office/drawing/2014/main" id="{67DFA6D4-2F48-458D-B301-5603E5D046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alphaModFix amt="4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5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4491" y="3140307"/>
              <a:ext cx="2857626" cy="1676400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Image result for file cabinets">
              <a:extLst>
                <a:ext uri="{FF2B5EF4-FFF2-40B4-BE49-F238E27FC236}">
                  <a16:creationId xmlns:a16="http://schemas.microsoft.com/office/drawing/2014/main" id="{8B0CFE36-166E-4B70-97A2-B2ADD41ABC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47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CrisscrossEtching/>
                      </a14:imgEffect>
                      <a14:imgEffect>
                        <a14:saturation sat="58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0024" y="3150281"/>
              <a:ext cx="2857625" cy="1676399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Image result for file cabinets">
              <a:extLst>
                <a:ext uri="{FF2B5EF4-FFF2-40B4-BE49-F238E27FC236}">
                  <a16:creationId xmlns:a16="http://schemas.microsoft.com/office/drawing/2014/main" id="{DA4F7410-D9C0-4A39-B5E2-9D1CBCB154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68929" y="3156734"/>
              <a:ext cx="2762204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4817110-3873-4634-A543-2F7B0616C93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9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100" y="372044"/>
            <a:ext cx="1270483" cy="1111672"/>
          </a:xfrm>
          <a:prstGeom prst="rect">
            <a:avLst/>
          </a:prstGeom>
          <a:effectLst>
            <a:glow rad="76200">
              <a:schemeClr val="bg1">
                <a:alpha val="48000"/>
              </a:schemeClr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6ECE76-7B9B-47FF-B861-46F8D947E152}"/>
              </a:ext>
            </a:extLst>
          </p:cNvPr>
          <p:cNvSpPr txBox="1"/>
          <p:nvPr/>
        </p:nvSpPr>
        <p:spPr>
          <a:xfrm>
            <a:off x="6082339" y="372044"/>
            <a:ext cx="9928903" cy="1077218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  <a:t>C-Dash: </a:t>
            </a:r>
            <a:b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</a:br>
            <a:r>
              <a:rPr lang="en-US" sz="3200" dirty="0">
                <a:ln w="10160">
                  <a:solidFill>
                    <a:srgbClr val="00548B"/>
                  </a:solidFill>
                </a:ln>
                <a:solidFill>
                  <a:srgbClr val="757575">
                    <a:alpha val="66000"/>
                  </a:srgbClr>
                </a:solidFill>
                <a:effectLst>
                  <a:glow rad="152400">
                    <a:srgbClr val="B4B7AF"/>
                  </a:glow>
                </a:effectLst>
                <a:latin typeface="Copperplate Gothic Bold" panose="020E0705020206020404" pitchFamily="34" charset="0"/>
              </a:rPr>
              <a:t>Digital Architectural Survey and History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6A81535-BAEE-4A50-AD99-ECF0D140C721}"/>
              </a:ext>
            </a:extLst>
          </p:cNvPr>
          <p:cNvGrpSpPr/>
          <p:nvPr/>
        </p:nvGrpSpPr>
        <p:grpSpPr>
          <a:xfrm>
            <a:off x="4734848" y="1746581"/>
            <a:ext cx="11276395" cy="1283619"/>
            <a:chOff x="-468929" y="3140307"/>
            <a:chExt cx="13926578" cy="1692827"/>
          </a:xfrm>
        </p:grpSpPr>
        <p:pic>
          <p:nvPicPr>
            <p:cNvPr id="27" name="Picture 2" descr="Image result for file cabinets">
              <a:extLst>
                <a:ext uri="{FF2B5EF4-FFF2-40B4-BE49-F238E27FC236}">
                  <a16:creationId xmlns:a16="http://schemas.microsoft.com/office/drawing/2014/main" id="{B1EA2C62-1992-4FB9-974F-B5B6221DCF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48000"/>
                      </a14:imgEffect>
                      <a14:imgEffect>
                        <a14:colorTemperature colorTemp="6306"/>
                      </a14:imgEffect>
                      <a14:imgEffect>
                        <a14:brightnessContrast bright="6000" contrast="-5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31663" y="3150280"/>
              <a:ext cx="3127166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Image result for file cabinets">
              <a:extLst>
                <a:ext uri="{FF2B5EF4-FFF2-40B4-BE49-F238E27FC236}">
                  <a16:creationId xmlns:a16="http://schemas.microsoft.com/office/drawing/2014/main" id="{88A9BC9B-C4E1-4776-B849-641F313610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39" y="3152900"/>
              <a:ext cx="272415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 descr="Image result for file cabinets">
              <a:extLst>
                <a:ext uri="{FF2B5EF4-FFF2-40B4-BE49-F238E27FC236}">
                  <a16:creationId xmlns:a16="http://schemas.microsoft.com/office/drawing/2014/main" id="{33067B10-2A9F-491D-935D-755E44BAA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alphaModFix amt="51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1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956955" y="3152900"/>
              <a:ext cx="3194462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 descr="Image result for file cabinets">
              <a:extLst>
                <a:ext uri="{FF2B5EF4-FFF2-40B4-BE49-F238E27FC236}">
                  <a16:creationId xmlns:a16="http://schemas.microsoft.com/office/drawing/2014/main" id="{129CD826-CDCE-41B9-AEF5-CD187185DA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alphaModFix amt="4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5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4491" y="3140307"/>
              <a:ext cx="2857626" cy="1676400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Image result for file cabinets">
              <a:extLst>
                <a:ext uri="{FF2B5EF4-FFF2-40B4-BE49-F238E27FC236}">
                  <a16:creationId xmlns:a16="http://schemas.microsoft.com/office/drawing/2014/main" id="{85C13A1E-477A-476D-98F1-5E09342EE1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alphaModFix amt="47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CrisscrossEtching/>
                      </a14:imgEffect>
                      <a14:imgEffect>
                        <a14:saturation sat="58000"/>
                      </a14:imgEffect>
                      <a14:imgEffect>
                        <a14:brightnessContrast contrast="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0024" y="3150281"/>
              <a:ext cx="2857625" cy="1676399"/>
            </a:xfrm>
            <a:prstGeom prst="rect">
              <a:avLst/>
            </a:prstGeom>
            <a:noFill/>
            <a:effectLst>
              <a:glow>
                <a:schemeClr val="accent1">
                  <a:alpha val="11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 descr="Image result for file cabinets">
              <a:extLst>
                <a:ext uri="{FF2B5EF4-FFF2-40B4-BE49-F238E27FC236}">
                  <a16:creationId xmlns:a16="http://schemas.microsoft.com/office/drawing/2014/main" id="{901C5338-400B-4B5F-9959-41AEA3318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alphaModFix amt="5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68929" y="3156734"/>
              <a:ext cx="2762204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F1ACFBD-133D-48EB-A53F-7C4E6D41DC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5340" y="3413683"/>
            <a:ext cx="5781216" cy="1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11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B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594F4B-804D-441D-9445-B6A6A7845F1A}"/>
              </a:ext>
            </a:extLst>
          </p:cNvPr>
          <p:cNvSpPr/>
          <p:nvPr/>
        </p:nvSpPr>
        <p:spPr>
          <a:xfrm>
            <a:off x="8530391" y="1528011"/>
            <a:ext cx="4271211" cy="3525252"/>
          </a:xfrm>
          <a:prstGeom prst="roundRect">
            <a:avLst>
              <a:gd name="adj" fmla="val 32861"/>
            </a:avLst>
          </a:prstGeom>
          <a:solidFill>
            <a:srgbClr val="B4B7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DC5F0-FFDC-4AC2-B917-74D3397146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303" y="762411"/>
            <a:ext cx="5793394" cy="5069217"/>
          </a:xfrm>
          <a:prstGeom prst="rect">
            <a:avLst/>
          </a:prstGeom>
          <a:effectLst>
            <a:glow rad="76200">
              <a:schemeClr val="bg1">
                <a:alpha val="48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53819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20533</TotalTime>
  <Words>83</Words>
  <Application>Microsoft Office PowerPoint</Application>
  <PresentationFormat>Custom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Copperplate Gothic 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pbcote</dc:creator>
  <cp:lastModifiedBy>Paul Cote</cp:lastModifiedBy>
  <cp:revision>24</cp:revision>
  <dcterms:created xsi:type="dcterms:W3CDTF">2019-02-11T11:45:41Z</dcterms:created>
  <dcterms:modified xsi:type="dcterms:W3CDTF">2023-07-26T19:39:56Z</dcterms:modified>
</cp:coreProperties>
</file>